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301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2014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fnBJEqVTXPPMBURUJjqGFaNCjUiYU7KjCMPf-OnTKTwhNeEg/viewfor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25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df_imgs/title_crop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18120" y="0"/>
            <a:ext cx="43708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452360" y="0"/>
            <a:ext cx="548640" cy="6858000"/>
          </a:xfrm>
          <a:prstGeom prst="rect">
            <a:avLst/>
          </a:prstGeom>
          <a:solidFill>
            <a:srgbClr val="432539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TANK RESEARCH STUDY  ·  SHARK 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4360" y="123444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AF5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</a:t>
            </a:r>
            <a:r>
              <a:rPr lang="en-US" sz="5400" b="1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Miles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228600" y="2971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E3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shapes a student's sense of belonging at IIT Guwahati?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3794760"/>
            <a:ext cx="1280160" cy="0"/>
          </a:xfrm>
          <a:prstGeom prst="line">
            <a:avLst/>
          </a:prstGeom>
          <a:noFill/>
          <a:ln w="25400">
            <a:solidFill>
              <a:srgbClr val="C9A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22093" y="5349239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 Annie Kunnath   </a:t>
            </a:r>
            <a:r>
              <a:rPr lang="en-US" sz="200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r>
              <a:rPr lang="en-US" sz="2000" dirty="0">
                <a:solidFill>
                  <a:srgbClr val="D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Kowshik Manapati   </a:t>
            </a:r>
            <a:r>
              <a:rPr lang="en-US" sz="200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r>
              <a:rPr lang="en-US" sz="2000" dirty="0">
                <a:solidFill>
                  <a:srgbClr val="D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Sreedha K Nambiar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7240" y="61950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empirical study of distance, home visits, culture, language &amp; participation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OF THE STUDY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sense of belonging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of belonging reflects a student's feeling of acceptance, value, respect, and connection to their institution. For students who relocate far from home, that sense of belonging can't be assumed - it has to be built.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76656" y="3113532"/>
            <a:ext cx="63093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3B1F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3504" y="3113532"/>
            <a:ext cx="73152" cy="1234440"/>
          </a:xfrm>
          <a:prstGeom prst="rect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3279845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“Strong belonging is linked to engagement, motivation, well-being, and academic success.”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6696" y="38862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Pedler et al., 2022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809744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Guwahati's diverse student community - drawn from across India and abroad - offers an important context to study how belonging forms.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0" y="1554480"/>
            <a:ext cx="4251960" cy="4709160"/>
          </a:xfrm>
          <a:prstGeom prst="rect">
            <a:avLst/>
          </a:prstGeom>
          <a:solidFill>
            <a:srgbClr val="4325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EXAMINED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35240" y="2286000"/>
            <a:ext cx="384048" cy="384048"/>
          </a:xfrm>
          <a:prstGeom prst="ellipse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3524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2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83880" y="22860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 distance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635240" y="3063240"/>
            <a:ext cx="384048" cy="384048"/>
          </a:xfrm>
          <a:prstGeom prst="ellipse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352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2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83880" y="30632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home visits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635240" y="3840480"/>
            <a:ext cx="384048" cy="384048"/>
          </a:xfrm>
          <a:prstGeom prst="ellipse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3524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2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83880" y="38404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experience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635240" y="4617720"/>
            <a:ext cx="384048" cy="384048"/>
          </a:xfrm>
          <a:prstGeom prst="ellipse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3524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2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183880" y="46177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comfort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635240" y="5394960"/>
            <a:ext cx="384048" cy="384048"/>
          </a:xfrm>
          <a:prstGeom prst="ellipse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635240" y="5394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2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83880" y="53949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participation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questions guide this study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3B1F2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371600" cy="896112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AF5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RQ-I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240280" y="1691640"/>
            <a:ext cx="9144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geographical distance from a student's hometown affect their sense of belonging at IIT Guwahati?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1088136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3B1F2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1371600" cy="896112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AF5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RQ-II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240280" y="2697480"/>
            <a:ext cx="9144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frequency of visiting home influence a student's sense of belonging?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1088136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3B1F2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1371600" cy="896112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AF5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RQ-III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240280" y="3703320"/>
            <a:ext cx="9144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cultural and linguistic differences impact students' integration into campus life?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1088136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3B1F2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4709160"/>
            <a:ext cx="1371600" cy="896112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709160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AF5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RQ-IV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240280" y="4709160"/>
            <a:ext cx="9144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participation in campus activities increase a student's sense of belonging?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" y="5715000"/>
            <a:ext cx="1088136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3B1F2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0080" y="5715000"/>
            <a:ext cx="1371600" cy="896112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5715000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AF5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RQ-V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240280" y="5715000"/>
            <a:ext cx="9144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factor has the strongest association on a student's sense of belonging?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study variables relate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6017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independent variables are hypothesized to be associated with students' Sense of Belongingness.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023360" y="2139696"/>
            <a:ext cx="4617720" cy="1828800"/>
          </a:xfrm>
          <a:prstGeom prst="line">
            <a:avLst/>
          </a:prstGeom>
          <a:noFill/>
          <a:ln w="19050">
            <a:solidFill>
              <a:srgbClr val="A267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23360" y="3054096"/>
            <a:ext cx="4617720" cy="914400"/>
          </a:xfrm>
          <a:prstGeom prst="line">
            <a:avLst/>
          </a:prstGeom>
          <a:noFill/>
          <a:ln w="19050">
            <a:solidFill>
              <a:srgbClr val="A267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023360" y="3968496"/>
            <a:ext cx="4617720" cy="0"/>
          </a:xfrm>
          <a:prstGeom prst="line">
            <a:avLst/>
          </a:prstGeom>
          <a:noFill/>
          <a:ln w="19050">
            <a:solidFill>
              <a:srgbClr val="A267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V="1">
            <a:off x="4023360" y="3968496"/>
            <a:ext cx="4617720" cy="914400"/>
          </a:xfrm>
          <a:prstGeom prst="line">
            <a:avLst/>
          </a:prstGeom>
          <a:noFill/>
          <a:ln w="19050">
            <a:solidFill>
              <a:srgbClr val="A267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flipV="1">
            <a:off x="4023360" y="3968496"/>
            <a:ext cx="4617720" cy="1828800"/>
          </a:xfrm>
          <a:prstGeom prst="line">
            <a:avLst/>
          </a:prstGeom>
          <a:noFill/>
          <a:ln w="19050">
            <a:solidFill>
              <a:srgbClr val="A267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22960" y="1783080"/>
            <a:ext cx="32004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6D2E46"/>
            </a:solidFill>
            <a:prstDash val="solid"/>
          </a:ln>
          <a:effectLst>
            <a:outerShdw blurRad="76200" dist="12700" dir="5400000" algn="bl" rotWithShape="0">
              <a:srgbClr val="3B1F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178308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from Home Town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2697480"/>
            <a:ext cx="32004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6D2E46"/>
            </a:solidFill>
            <a:prstDash val="solid"/>
          </a:ln>
          <a:effectLst>
            <a:outerShdw blurRad="76200" dist="12700" dir="5400000" algn="bl" rotWithShape="0">
              <a:srgbClr val="3B1F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269748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Home Visits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3611880"/>
            <a:ext cx="32004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6D2E46"/>
            </a:solidFill>
            <a:prstDash val="solid"/>
          </a:ln>
          <a:effectLst>
            <a:outerShdw blurRad="76200" dist="12700" dir="5400000" algn="bl" rotWithShape="0">
              <a:srgbClr val="3B1F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361188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Comfort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526280"/>
            <a:ext cx="32004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6D2E46"/>
            </a:solidFill>
            <a:prstDash val="solid"/>
          </a:ln>
          <a:effectLst>
            <a:outerShdw blurRad="76200" dist="12700" dir="5400000" algn="bl" rotWithShape="0">
              <a:srgbClr val="3B1F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452628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Comfort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2960" y="5440680"/>
            <a:ext cx="32004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6D2E46"/>
            </a:solidFill>
            <a:prstDash val="solid"/>
          </a:ln>
          <a:effectLst>
            <a:outerShdw blurRad="76200" dist="12700" dir="5400000" algn="bl" rotWithShape="0">
              <a:srgbClr val="3B1F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0120" y="544068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Participation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732520" y="3168396"/>
            <a:ext cx="2606040" cy="1600200"/>
          </a:xfrm>
          <a:prstGeom prst="ellipse">
            <a:avLst/>
          </a:prstGeom>
          <a:solidFill>
            <a:srgbClr val="432539"/>
          </a:solidFill>
          <a:ln w="19050">
            <a:solidFill>
              <a:srgbClr val="C9A15A"/>
            </a:solidFill>
            <a:prstDash val="solid"/>
          </a:ln>
          <a:effectLst>
            <a:outerShdw blurRad="127000" dist="38100" dir="5400000" algn="bl" rotWithShape="0">
              <a:srgbClr val="3B1F2B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869680" y="3168396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of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Belongingness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23760" y="508863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via the PSSM scale (Goodenow, 1993) — RQ-V asks which predictor above exerts the strongest pull on this outcome.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study was conducted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3B1F2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93392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9077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Quantitative, cross-sectional survey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714500"/>
            <a:ext cx="35204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3B1F2B">
                <a:alpha val="10000"/>
              </a:srgbClr>
            </a:outerShdw>
          </a:effectLst>
        </p:spPr>
        <p:txBody>
          <a:bodyPr/>
          <a:lstStyle/>
          <a:p>
            <a:r>
              <a:rPr lang="en-US" dirty="0">
                <a:hlinkClick r:id="rId3"/>
              </a:rPr>
              <a:t>                  </a:t>
            </a:r>
          </a:p>
          <a:p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		Google Form 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63440" y="1993392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26060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29077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via structured Google Form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5204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3B1F2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12480" y="1993392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12480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0" y="26060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0" y="29077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70 respondents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566160"/>
            <a:ext cx="35204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3B1F2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4400" y="3822192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3822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44348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7365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convenience sampling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9120" y="3566160"/>
            <a:ext cx="35204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3B1F2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3822192"/>
            <a:ext cx="420624" cy="420624"/>
          </a:xfrm>
          <a:prstGeom prst="ellipse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63440" y="3822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63440" y="44348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Variable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63440" y="47365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of Belonging (PSSM scale)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566160"/>
            <a:ext cx="35204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3B1F2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412480" y="3822192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412480" y="3822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12480" y="44348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Variables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12480" y="473659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Distance, home visits, culture, language, participation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94360" y="563041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tools: descriptive statistics, reliability analysis (Cronbach's Alpha), correlation, and one-way ANOVA — computed in Excel.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0080" y="62773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PSSM scale source: Goodenow, C. (1993). The psychological sense of school membership among adolescents: Scale development and educational correlates. Psychology in the Schools, 30(1), 79–90.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answered the survey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966960" y="502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70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966960" y="1033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respondents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5532120" cy="435864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FAF5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FAF5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AF5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Freq.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AF5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of Study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Master's Programme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41.4%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Bachelor's Programme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31.4%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Doctoral Programme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of Study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year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55.7%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 year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 year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4th year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5th year or above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52.9%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 not to say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Region (rel. to IITG)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of India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81.4%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Northeast India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Abroad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from IIT Guwahati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than 1500 km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68.6%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 250 km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1001–1500 km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501–1000 km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250–500 km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417320"/>
          <a:ext cx="5532120" cy="4794504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FAF5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FAF5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AF5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Freq.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b="1" dirty="0">
                          <a:solidFill>
                            <a:srgbClr val="FAF5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 Mode of Travel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47.1%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 + Train/Bus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+ Bus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/ Personal transport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 Journey Duration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 5 hours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31.4%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 hours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28.6%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than 30 hours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22.9%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11–20 hours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21–30 hours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Visits / Semester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41.4%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34.3%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than 4 times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Twice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times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One-way Travel Spend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than ₹10,000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34.3%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₹5,001–₹10,000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28.6%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₹2,501–₹5,000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 ₹1,000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₹1,000–₹2,500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8.6%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6355080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'Hometown State/UT' was standardized then grouped into Region (Northeast India / Rest of India / Abroad) since raw state data had 39 spelling variants and limited standalone meaning.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 study variables,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Scale-based composite variables were measured on a 1-5 scale; categorical variables were coded for analysis.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881360" cy="3584448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AF5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AF5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AF5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AF5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AF5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Kurtosis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AF5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(1–5)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Visits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Cultural Experience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Comfort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Campus Participation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A6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Belongingness (DV)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001000" y="2590678"/>
            <a:ext cx="3429000" cy="281635"/>
          </a:xfrm>
          <a:prstGeom prst="rect">
            <a:avLst/>
          </a:prstGeom>
          <a:solidFill>
            <a:srgbClr val="E6DA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001000" y="2590678"/>
            <a:ext cx="2873502" cy="281635"/>
          </a:xfrm>
          <a:prstGeom prst="rect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8001000" y="3102742"/>
            <a:ext cx="3429000" cy="281635"/>
          </a:xfrm>
          <a:prstGeom prst="rect">
            <a:avLst/>
          </a:prstGeom>
          <a:solidFill>
            <a:srgbClr val="E6DA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001000" y="3102742"/>
            <a:ext cx="1501902" cy="281635"/>
          </a:xfrm>
          <a:prstGeom prst="rect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001000" y="3614806"/>
            <a:ext cx="3429000" cy="281635"/>
          </a:xfrm>
          <a:prstGeom prst="rect">
            <a:avLst/>
          </a:prstGeom>
          <a:solidFill>
            <a:srgbClr val="E6DA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001000" y="3614806"/>
            <a:ext cx="2414016" cy="281635"/>
          </a:xfrm>
          <a:prstGeom prst="rect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001000" y="4126870"/>
            <a:ext cx="3429000" cy="281635"/>
          </a:xfrm>
          <a:prstGeom prst="rect">
            <a:avLst/>
          </a:prstGeom>
          <a:solidFill>
            <a:srgbClr val="E6DA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001000" y="4126870"/>
            <a:ext cx="2434590" cy="281635"/>
          </a:xfrm>
          <a:prstGeom prst="rect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001000" y="4638934"/>
            <a:ext cx="3429000" cy="281635"/>
          </a:xfrm>
          <a:prstGeom prst="rect">
            <a:avLst/>
          </a:prstGeom>
          <a:solidFill>
            <a:srgbClr val="E6DA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001000" y="4638934"/>
            <a:ext cx="2057400" cy="281635"/>
          </a:xfrm>
          <a:prstGeom prst="rect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001000" y="5150998"/>
            <a:ext cx="3429000" cy="281635"/>
          </a:xfrm>
          <a:prstGeom prst="rect">
            <a:avLst/>
          </a:prstGeom>
          <a:solidFill>
            <a:srgbClr val="E6DA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001000" y="5150998"/>
            <a:ext cx="2599182" cy="281635"/>
          </a:xfrm>
          <a:prstGeom prst="rect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" y="5806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Belonging averages 3.79/5 with a left-skewed, slightly peaked distribution — most students report moderate-to-high belonging, with fewer low outliers.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25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AF5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belonging scale trustworthy?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114800" cy="3794760"/>
          </a:xfrm>
          <a:prstGeom prst="roundRect">
            <a:avLst>
              <a:gd name="adj" fmla="val 2410"/>
            </a:avLst>
          </a:prstGeom>
          <a:solidFill>
            <a:srgbClr val="5C33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CRONBACH'S ALPHA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FAF5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0.910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3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internal consistency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463040" y="4206240"/>
            <a:ext cx="2468880" cy="0"/>
          </a:xfrm>
          <a:prstGeom prst="line">
            <a:avLst/>
          </a:prstGeom>
          <a:noFill/>
          <a:ln w="12700">
            <a:solidFill>
              <a:srgbClr val="C9A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44348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</a:t>
            </a:r>
            <a:r>
              <a:rPr lang="en-US" sz="1250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PSSM (Psychological Sense of School Membership)
</a:t>
            </a:r>
            <a:r>
              <a:rPr lang="en-US" sz="125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Items: </a:t>
            </a:r>
            <a:r>
              <a:rPr lang="en-US" sz="1250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
</a:t>
            </a:r>
            <a:r>
              <a:rPr lang="en-US" sz="125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Construct: </a:t>
            </a:r>
            <a:r>
              <a:rPr lang="en-US" sz="1250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of Belonging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5349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7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Goodenow, C. (1993). Psychology in the Schools, 30(1), 79–90.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257800" y="18288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AS RELIABLE?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57800" y="2286000"/>
            <a:ext cx="6309360" cy="502920"/>
          </a:xfrm>
          <a:prstGeom prst="rect">
            <a:avLst/>
          </a:prstGeom>
          <a:solidFill>
            <a:srgbClr val="4325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0" y="2286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0.60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49440" y="22860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Questionable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57800" y="2907792"/>
            <a:ext cx="6309360" cy="502920"/>
          </a:xfrm>
          <a:prstGeom prst="rect">
            <a:avLst/>
          </a:prstGeom>
          <a:solidFill>
            <a:srgbClr val="4325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0" y="29077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 – 0.70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49440" y="290779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257800" y="3529584"/>
            <a:ext cx="6309360" cy="502920"/>
          </a:xfrm>
          <a:prstGeom prst="rect">
            <a:avLst/>
          </a:prstGeom>
          <a:solidFill>
            <a:srgbClr val="4325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0" y="352958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 – 0.90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0" y="35295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257800" y="4151376"/>
            <a:ext cx="6309360" cy="502920"/>
          </a:xfrm>
          <a:prstGeom prst="rect">
            <a:avLst/>
          </a:prstGeom>
          <a:solidFill>
            <a:srgbClr val="5C3349"/>
          </a:solidFill>
          <a:ln w="15875">
            <a:solidFill>
              <a:srgbClr val="C9A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0" y="415137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0.90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41513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 ←  our scale sits here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48920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D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the 8 items show high, consistent inter-correlation and reliably measure students' sense of belonging — the analyses that follow can be trusted to reflect a real, stable construct, not measurement noise.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variables associates to belonging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of each factor with Belongingness Score (n = 70). This sets up the hypothesis tests on the following slides.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88136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3B1F2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Comfort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23360" y="1920240"/>
            <a:ext cx="1234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7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0.460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257800" y="1920240"/>
            <a:ext cx="1005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&lt;0.001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412480" y="1993392"/>
            <a:ext cx="0" cy="548640"/>
          </a:xfrm>
          <a:prstGeom prst="line">
            <a:avLst/>
          </a:prstGeom>
          <a:noFill/>
          <a:ln w="12700">
            <a:solidFill>
              <a:srgbClr val="D8C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412480" y="2139696"/>
            <a:ext cx="1354409" cy="256032"/>
          </a:xfrm>
          <a:prstGeom prst="rect">
            <a:avLst/>
          </a:prstGeom>
          <a:solidFill>
            <a:srgbClr val="3E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1920240"/>
            <a:ext cx="73152" cy="694944"/>
          </a:xfrm>
          <a:prstGeom prst="rect">
            <a:avLst/>
          </a:prstGeom>
          <a:solidFill>
            <a:srgbClr val="3E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2724912"/>
            <a:ext cx="1088136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3B1F2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2724912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Experience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23360" y="2724912"/>
            <a:ext cx="1234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7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0.432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57800" y="2724912"/>
            <a:ext cx="1005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&lt;0.001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12480" y="2798064"/>
            <a:ext cx="0" cy="548640"/>
          </a:xfrm>
          <a:prstGeom prst="line">
            <a:avLst/>
          </a:prstGeom>
          <a:noFill/>
          <a:ln w="12700">
            <a:solidFill>
              <a:srgbClr val="D8C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412480" y="2944368"/>
            <a:ext cx="1271967" cy="256032"/>
          </a:xfrm>
          <a:prstGeom prst="rect">
            <a:avLst/>
          </a:prstGeom>
          <a:solidFill>
            <a:srgbClr val="3E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0080" y="2724912"/>
            <a:ext cx="73152" cy="694944"/>
          </a:xfrm>
          <a:prstGeom prst="rect">
            <a:avLst/>
          </a:prstGeom>
          <a:solidFill>
            <a:srgbClr val="3E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" y="3529584"/>
            <a:ext cx="1088136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3B1F2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3529584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Participation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023360" y="3529584"/>
            <a:ext cx="1234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0.168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57800" y="3529584"/>
            <a:ext cx="1005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0.166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412480" y="3602736"/>
            <a:ext cx="0" cy="548640"/>
          </a:xfrm>
          <a:prstGeom prst="line">
            <a:avLst/>
          </a:prstGeom>
          <a:noFill/>
          <a:ln w="12700">
            <a:solidFill>
              <a:srgbClr val="D8C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412480" y="3749040"/>
            <a:ext cx="494654" cy="256032"/>
          </a:xfrm>
          <a:prstGeom prst="rect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0080" y="3529584"/>
            <a:ext cx="73152" cy="694944"/>
          </a:xfrm>
          <a:prstGeom prst="rect">
            <a:avLst/>
          </a:prstGeom>
          <a:solidFill>
            <a:srgbClr val="D8C9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0080" y="4334256"/>
            <a:ext cx="1088136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3B1F2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4334256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Visits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023360" y="4334256"/>
            <a:ext cx="1234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-0.061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257800" y="4334256"/>
            <a:ext cx="1005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0.618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412480" y="4407408"/>
            <a:ext cx="0" cy="548640"/>
          </a:xfrm>
          <a:prstGeom prst="line">
            <a:avLst/>
          </a:prstGeom>
          <a:noFill/>
          <a:ln w="12700">
            <a:solidFill>
              <a:srgbClr val="D8C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232874" y="4553712"/>
            <a:ext cx="179606" cy="256032"/>
          </a:xfrm>
          <a:prstGeom prst="rect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0080" y="4334256"/>
            <a:ext cx="73152" cy="694944"/>
          </a:xfrm>
          <a:prstGeom prst="rect">
            <a:avLst/>
          </a:prstGeom>
          <a:solidFill>
            <a:srgbClr val="D8C9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40080" y="5138928"/>
            <a:ext cx="1088136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3B1F2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14400" y="5138928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from Hometown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023360" y="5138928"/>
            <a:ext cx="1234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-0.038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257800" y="5138928"/>
            <a:ext cx="1005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0.756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412480" y="5212080"/>
            <a:ext cx="0" cy="548640"/>
          </a:xfrm>
          <a:prstGeom prst="line">
            <a:avLst/>
          </a:prstGeom>
          <a:noFill/>
          <a:ln w="12700">
            <a:solidFill>
              <a:srgbClr val="D8C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300594" y="5358384"/>
            <a:ext cx="111886" cy="256032"/>
          </a:xfrm>
          <a:prstGeom prst="rect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40080" y="5138928"/>
            <a:ext cx="73152" cy="694944"/>
          </a:xfrm>
          <a:prstGeom prst="rect">
            <a:avLst/>
          </a:prstGeom>
          <a:solidFill>
            <a:srgbClr val="D8C9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at α = 0.05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 ·  RQ-I &amp; RQ-II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and home visits: no measurable effect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434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3B1F2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57800" cy="50292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5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RQ-I — Distance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geographical distance affect belonging?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No significant effect on belonging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36499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One-Way ANOVA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1177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950208"/>
            <a:ext cx="1177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0.425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091690" y="3703320"/>
            <a:ext cx="1177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91690" y="3950208"/>
            <a:ext cx="1177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4, 65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68980" y="3703320"/>
            <a:ext cx="1177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crit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68980" y="3950208"/>
            <a:ext cx="1177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2.513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46270" y="3703320"/>
            <a:ext cx="1177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46270" y="3950208"/>
            <a:ext cx="1177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4434840"/>
            <a:ext cx="4709160" cy="457200"/>
          </a:xfrm>
          <a:prstGeom prst="rect">
            <a:avLst/>
          </a:prstGeom>
          <a:solidFill>
            <a:srgbClr val="EFE6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44348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502920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Belonging means stay flat across every distance band (3.70–4.38) — students who live 250 km away and 1,500+ km away report statistically identical belonging.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1691640"/>
            <a:ext cx="5257800" cy="4434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3B1F2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63640" y="1691640"/>
            <a:ext cx="5257800" cy="50292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37960" y="16916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5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RQ-II — Home Visits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37960" y="233172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home-visit frequency influence belonging?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37960" y="30632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No significant effect on belonging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37960" y="336499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One-Way ANOVA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37960" y="3703320"/>
            <a:ext cx="1177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37960" y="3950208"/>
            <a:ext cx="1177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1.896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715250" y="3703320"/>
            <a:ext cx="1177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15250" y="3950208"/>
            <a:ext cx="1177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4, 64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892540" y="3703320"/>
            <a:ext cx="1177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crit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892540" y="3950208"/>
            <a:ext cx="1177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2.515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069830" y="3703320"/>
            <a:ext cx="11772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069830" y="3950208"/>
            <a:ext cx="1177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0.122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537960" y="4434840"/>
            <a:ext cx="4709160" cy="457200"/>
          </a:xfrm>
          <a:prstGeom prst="rect">
            <a:avLst/>
          </a:prstGeom>
          <a:solidFill>
            <a:srgbClr val="EFE6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37960" y="44348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H₀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537960" y="502920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never go home (M=4.09) actually trend slightly higher than those who visit once (M=3.51) — but the difference isn't statistically significant.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25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 ·  RQ-III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AF5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Culture and language: the story that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cultural and linguistic differences impact students' integration into campus life?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5C3349"/>
          </a:solidFill>
          <a:ln w="12700">
            <a:solidFill>
              <a:srgbClr val="C9A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Experience ↔ Belonging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AF5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0.432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960120" y="361188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(68)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3840480"/>
            <a:ext cx="152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3.950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84120" y="361188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84120" y="3840480"/>
            <a:ext cx="152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&lt;0.001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08120" y="361188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08120" y="3840480"/>
            <a:ext cx="152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60120" y="4343400"/>
            <a:ext cx="4572000" cy="457200"/>
          </a:xfrm>
          <a:prstGeom prst="rect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4343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2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  —  SIGNIFICANT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493776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3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feel culturally comfortable — able to interact across backgrounds and feel accepted — report meaningfully higher belonging.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201168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5C3349"/>
          </a:solidFill>
          <a:ln w="12700">
            <a:solidFill>
              <a:srgbClr val="C9A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2940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Comfort ↔ Belonging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2651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AF5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0.460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6629400" y="361188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(68)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29400" y="3840480"/>
            <a:ext cx="152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4.268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53400" y="361188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53400" y="3840480"/>
            <a:ext cx="152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&lt;0.001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77400" y="361188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77400" y="3840480"/>
            <a:ext cx="152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629400" y="4343400"/>
            <a:ext cx="4572000" cy="457200"/>
          </a:xfrm>
          <a:prstGeom prst="rect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29400" y="4343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2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  —  SIGNIFICANT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29400" y="493776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3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ease is the single strongest bivariate correlate of belonging in the entire dataset — stronger than distance, visits, or participation combined.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B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 ·  RQ-IV &amp; RQ-V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Participation falls short; language &amp; culture lead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4434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3B1F2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120640" cy="50292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AF5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RQ-IV — Campus Participation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participation in campus activities increase belonging?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No significant relationship with belonging   ·   Test: Pearson correlation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152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767328"/>
            <a:ext cx="152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0.168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38400" y="3520440"/>
            <a:ext cx="152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(68)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38400" y="3767328"/>
            <a:ext cx="152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62400" y="3520440"/>
            <a:ext cx="152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62400" y="3767328"/>
            <a:ext cx="152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0.166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4251960"/>
            <a:ext cx="4572000" cy="457200"/>
          </a:xfrm>
          <a:prstGeom prst="rect">
            <a:avLst/>
          </a:prstGeom>
          <a:solidFill>
            <a:srgbClr val="EFE6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251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8463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weak, non-significant positive trend — more active students lean slightly higher on belonging, but not reliably so at n = 70.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0760" y="1691640"/>
            <a:ext cx="5440680" cy="4434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3B1F2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80760" y="1691640"/>
            <a:ext cx="5440680" cy="50292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55080" y="16916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AF5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RQ-V — Strongest Predictor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355080" y="22860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correlation strength with belonging (largest |r| = strongest influence):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55080" y="2743200"/>
            <a:ext cx="365760" cy="365760"/>
          </a:xfrm>
          <a:prstGeom prst="ellipse">
            <a:avLst/>
          </a:prstGeom>
          <a:solidFill>
            <a:srgbClr val="3E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5508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Comfort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4692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E7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0.460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355080" y="3310128"/>
            <a:ext cx="365760" cy="365760"/>
          </a:xfrm>
          <a:prstGeom prst="ellipse">
            <a:avLst/>
          </a:prstGeom>
          <a:solidFill>
            <a:srgbClr val="3E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5508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0" y="3310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Experience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46920" y="33101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E7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0.432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355080" y="3877056"/>
            <a:ext cx="365760" cy="365760"/>
          </a:xfrm>
          <a:prstGeom prst="ellipse">
            <a:avLst/>
          </a:prstGeom>
          <a:solidFill>
            <a:srgbClr val="D8C9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55080" y="3877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0" y="38770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Participation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46920" y="38770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6B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0.168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355080" y="4443984"/>
            <a:ext cx="365760" cy="365760"/>
          </a:xfrm>
          <a:prstGeom prst="ellipse">
            <a:avLst/>
          </a:prstGeom>
          <a:solidFill>
            <a:srgbClr val="D8C9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55080" y="4443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58000" y="44439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Visits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646920" y="44439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6B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-0.061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355080" y="5010912"/>
            <a:ext cx="365760" cy="365760"/>
          </a:xfrm>
          <a:prstGeom prst="ellipse">
            <a:avLst/>
          </a:prstGeom>
          <a:solidFill>
            <a:srgbClr val="D8C9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55080" y="5010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858000" y="5010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from Hometown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646920" y="50109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6B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-0.038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6355080" y="562356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Steiger's Z comparing the top two (Z = –0.27, p = 0.79) shows language comfort and cultural experience are not statistically distinguishable — together they are the strongest, near-equal drivers of belonging.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five hypotheses, side by side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3401568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AF5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AF5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AF5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AF5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AF5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AF5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RQ-I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→ Belonging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B5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One-Way ANOVA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= 0.425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5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 TO REJECT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RQ-II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Visits → Belonging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B5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One-Way ANOVA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= 1.896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5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 TO REJECT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RQ-III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Culture &amp; Language → Belonging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B5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Correlation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0.43 / 0.46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E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H₀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RQ-IV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Participation → Belonging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B5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Correlation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0.168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5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 TO REJECT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RQ-V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predictor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B5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 ranking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&amp; Culture lead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E7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H₀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257800"/>
            <a:ext cx="10881360" cy="914400"/>
          </a:xfrm>
          <a:prstGeom prst="rect">
            <a:avLst/>
          </a:prstGeom>
          <a:solidFill>
            <a:srgbClr val="4325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5257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line: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743200" y="52578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Belonging at IIT Guwahati is shaped far more by how culturally and linguistically at-ease a student feels than by geography, visit habits, or club participation.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IMPLICATIONS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keep in mind - and what to do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4434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12700" dir="5400000" algn="bl" rotWithShape="0">
              <a:srgbClr val="3B1F2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310896" cy="310896"/>
          </a:xfrm>
          <a:prstGeom prst="ellipse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37744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(n = 70) limits statistical power - several subgroups (e.g. 250–500 km band) have fewer than 5 respondents.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" y="3273552"/>
            <a:ext cx="310896" cy="310896"/>
          </a:xfrm>
          <a:prstGeom prst="ellipse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3273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3273552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sampling may not fully represent the whole student body.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" y="4169664"/>
            <a:ext cx="310896" cy="310896"/>
          </a:xfrm>
          <a:prstGeom prst="ellipse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4169664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Self-reported, cross-sectional data - no causal claims possible.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5065776"/>
            <a:ext cx="310896" cy="310896"/>
          </a:xfrm>
          <a:prstGeom prst="ellipse">
            <a:avLst/>
          </a:prstGeom>
          <a:solidFill>
            <a:srgbClr val="A267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5065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5065776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Experience composite showed only modest internal reliability (α = 0.55) and should be refined in future work.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35040" y="1691640"/>
            <a:ext cx="5486400" cy="4434840"/>
          </a:xfrm>
          <a:prstGeom prst="rect">
            <a:avLst/>
          </a:prstGeom>
          <a:solidFill>
            <a:srgbClr val="4325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09360" y="1920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2377440"/>
            <a:ext cx="310896" cy="310896"/>
          </a:xfrm>
          <a:prstGeom prst="ellipse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936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2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237744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cultural inclusion programming to strengthen belonging directly.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3090672"/>
            <a:ext cx="310896" cy="310896"/>
          </a:xfrm>
          <a:prstGeom prst="ellipse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09360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2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66560" y="309067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structured cross-cultural and cross-language interaction among students.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09360" y="3803904"/>
            <a:ext cx="310896" cy="310896"/>
          </a:xfrm>
          <a:prstGeom prst="ellipse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09360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2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66560" y="3803904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accessible entry points into clubs, cultural programmes, and sports.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09360" y="4517136"/>
            <a:ext cx="310896" cy="310896"/>
          </a:xfrm>
          <a:prstGeom prst="ellipse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09360" y="4517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2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66560" y="4517136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support initiatives targeted at students who report feeling less connected.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09360" y="5230368"/>
            <a:ext cx="310896" cy="310896"/>
          </a:xfrm>
          <a:prstGeom prst="ellipse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09360" y="5230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2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66560" y="523036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kind of survey evidence to guide ongoing, data-informed inclusion policy.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25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df_imgs/title_crop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18120" y="0"/>
            <a:ext cx="437083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09600" y="2011680"/>
            <a:ext cx="6675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AF5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me,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AF5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bigger us.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640080" y="4050890"/>
            <a:ext cx="1280160" cy="0"/>
          </a:xfrm>
          <a:prstGeom prst="line">
            <a:avLst/>
          </a:prstGeom>
          <a:noFill/>
          <a:ln w="25400">
            <a:solidFill>
              <a:srgbClr val="C9A1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61722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 6  ·  Kiran Annie Kunnath  ·  Kowshik Manapati  ·  Sreedha K Nambiar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1788</Words>
  <Application>Microsoft Office PowerPoint</Application>
  <PresentationFormat>Widescreen</PresentationFormat>
  <Paragraphs>461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sreedha K</cp:lastModifiedBy>
  <cp:revision>14</cp:revision>
  <dcterms:created xsi:type="dcterms:W3CDTF">2026-09-07T18:26:55Z</dcterms:created>
  <dcterms:modified xsi:type="dcterms:W3CDTF">2026-09-07T02:04:17Z</dcterms:modified>
</cp:coreProperties>
</file>